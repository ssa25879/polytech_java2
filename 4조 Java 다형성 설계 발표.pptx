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61" r:id="rId7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9260ED-DE0E-4E38-B30E-9CF09AB79634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952A3">
              <a:alpha val="45000"/>
            </a:srgbClr>
          </a:solidFill>
          <a:ln w="12700">
            <a:solidFill>
              <a:srgbClr val="2952A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3721EC-A462-41C2-92D5-1E0D1AB910E7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46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DFFB18-770A-4C46-9CEB-F6B98AC24F08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400800" cy="54864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Java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다형성</a:t>
            </a: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설계</a:t>
            </a:r>
            <a:r>
              <a:rPr sz="2200" dirty="0">
                <a:solidFill>
                  <a:srgbClr val="CADCFC"/>
                </a:solidFill>
                <a:latin typeface="Arial"/>
                <a:ea typeface="Arial"/>
                <a:cs typeface="Arial"/>
              </a:rPr>
              <a:t> </a:t>
            </a:r>
            <a:r>
              <a:rPr sz="2200" dirty="0" err="1">
                <a:solidFill>
                  <a:srgbClr val="CADCFC"/>
                </a:solidFill>
                <a:latin typeface="Arial"/>
                <a:ea typeface="Arial"/>
                <a:cs typeface="Arial"/>
              </a:rPr>
              <a:t>발표</a:t>
            </a:r>
            <a:endParaRPr sz="2200" dirty="0">
              <a:solidFill>
                <a:srgbClr val="CADCF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C62535-6DC0-4C84-ACBE-BD1A0F566B8A}"/>
              </a:ext>
            </a:extLst>
          </p:cNvPr>
          <p:cNvSpPr>
            <a:spLocks noGrp="1"/>
          </p:cNvSpPr>
          <p:nvPr/>
        </p:nvSpPr>
        <p:spPr>
          <a:xfrm>
            <a:off x="548640" y="2971800"/>
            <a:ext cx="3200400" cy="54864"/>
          </a:xfrm>
          <a:prstGeom prst="rect">
            <a:avLst/>
          </a:prstGeom>
          <a:solidFill>
            <a:srgbClr val="5B8DE8"/>
          </a:solidFill>
          <a:ln w="12700">
            <a:solidFill>
              <a:srgbClr val="5B8D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FB1A60-8687-45C0-B52D-E8FF1963BE37}"/>
              </a:ext>
            </a:extLst>
          </p:cNvPr>
          <p:cNvSpPr>
            <a:spLocks noGrp="1"/>
          </p:cNvSpPr>
          <p:nvPr/>
        </p:nvSpPr>
        <p:spPr>
          <a:xfrm>
            <a:off x="548640" y="3154680"/>
            <a:ext cx="6400800" cy="731520"/>
          </a:xfrm>
          <a:prstGeom prst="rect">
            <a:avLst/>
          </a:prstGeom>
          <a:noFill/>
        </p:spPr>
        <p:txBody>
          <a:bodyPr/>
          <a:lstStyle/>
          <a:p>
            <a:pPr marL="0" indent="0">
              <a:buNone/>
            </a:pPr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0D1784-A6E5-4746-AA71-D11FDC5A584F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lang="en-US"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4</a:t>
            </a:r>
            <a:r>
              <a:rPr sz="1300" dirty="0" smtClean="0">
                <a:solidFill>
                  <a:srgbClr val="8AAEE0"/>
                </a:solidFill>
                <a:latin typeface="Arial"/>
                <a:ea typeface="Arial"/>
                <a:cs typeface="Arial"/>
              </a:rPr>
              <a:t>조 </a:t>
            </a:r>
            <a:r>
              <a:rPr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| UML </a:t>
            </a:r>
            <a:r>
              <a:rPr sz="1300" dirty="0" err="1">
                <a:solidFill>
                  <a:srgbClr val="8AAEE0"/>
                </a:solidFill>
                <a:latin typeface="Arial"/>
                <a:ea typeface="Arial"/>
                <a:cs typeface="Arial"/>
              </a:rPr>
              <a:t>구조</a:t>
            </a:r>
            <a:r>
              <a:rPr sz="1300" dirty="0">
                <a:solidFill>
                  <a:srgbClr val="8AAEE0"/>
                </a:solidFill>
                <a:latin typeface="Arial"/>
                <a:ea typeface="Arial"/>
                <a:cs typeface="Arial"/>
              </a:rPr>
              <a:t> </a:t>
            </a:r>
            <a:r>
              <a:rPr sz="1300" dirty="0" err="1">
                <a:solidFill>
                  <a:srgbClr val="8AAEE0"/>
                </a:solidFill>
                <a:latin typeface="Arial"/>
                <a:ea typeface="Arial"/>
                <a:cs typeface="Arial"/>
              </a:rPr>
              <a:t>정리</a:t>
            </a:r>
            <a:endParaRPr sz="1300" dirty="0">
              <a:solidFill>
                <a:srgbClr val="8AAEE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61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233EB160-D09A-42B3-9591-02CB8EA58E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F33A95F0-CE9F-4BEA-B04B-674DFF039BDB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전체 과제 구조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9D90F576-52FD-408C-9084-3CAA4F4DFCFD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1060" y="868680"/>
            <a:ext cx="7721879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B4821F3B-B5B7-4BDA-ABB9-DB0CF144310C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B87E11C6-E509-4E63-A8FA-7BB5A6C3F7CE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전체 구조: Entity 계층, 종족 상속, 기능 인터페이스, UnitGroup 통합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1898E95-6D35-4591-AF20-E6415AF9933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25929E54-98C9-4AB6-A59B-4218E79FBDC9}"/>
              </a:ext>
            </a:extLst>
          </p:cNvPr>
          <p:cNvSpPr>
            <a:spLocks noGrp="1"/>
          </p:cNvSpPr>
          <p:nvPr/>
        </p:nvSpPr>
        <p:spPr>
          <a:xfrm>
            <a:off x="407974" y="981075"/>
            <a:ext cx="2871671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A3263B76-1C91-4FDA-95FA-D737ABC6345D}"/>
              </a:ext>
            </a:extLst>
          </p:cNvPr>
          <p:cNvSpPr>
            <a:spLocks noGrp="1"/>
          </p:cNvSpPr>
          <p:nvPr/>
        </p:nvSpPr>
        <p:spPr>
          <a:xfrm>
            <a:off x="400049" y="981075"/>
            <a:ext cx="2871671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83D80D70-2F62-4555-815D-EE3445F6B379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D306F285-A41C-456D-AD27-58E7FD05CB5B}"/>
              </a:ext>
            </a:extLst>
          </p:cNvPr>
          <p:cNvSpPr>
            <a:spLocks noGrp="1"/>
          </p:cNvSpPr>
          <p:nvPr/>
        </p:nvSpPr>
        <p:spPr>
          <a:xfrm>
            <a:off x="514350" y="1462982"/>
            <a:ext cx="2660446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/>
              <a:t>Entity</a:t>
            </a:r>
            <a:r>
              <a:rPr lang="ko-KR" altLang="en-US" sz="800" dirty="0"/>
              <a:t>를 최상위 공통 인터페이스로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Unit, </a:t>
            </a:r>
            <a:r>
              <a:rPr lang="en-US" altLang="ko-KR" sz="800" dirty="0" err="1"/>
              <a:t>MoveableEntity</a:t>
            </a:r>
            <a:r>
              <a:rPr lang="en-US" altLang="ko-KR" sz="800" dirty="0"/>
              <a:t>, </a:t>
            </a:r>
            <a:r>
              <a:rPr lang="en-US" altLang="ko-KR" sz="800" dirty="0" err="1"/>
              <a:t>AttackableEntity</a:t>
            </a:r>
            <a:r>
              <a:rPr lang="ko-KR" altLang="en-US" sz="800" dirty="0"/>
              <a:t>로 기능 분리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Terran, </a:t>
            </a:r>
            <a:r>
              <a:rPr lang="en-US" altLang="ko-KR" sz="800" dirty="0" err="1"/>
              <a:t>Zerg</a:t>
            </a:r>
            <a:r>
              <a:rPr lang="en-US" altLang="ko-KR" sz="800" dirty="0"/>
              <a:t>, </a:t>
            </a:r>
            <a:r>
              <a:rPr lang="en-US" altLang="ko-KR" sz="800" dirty="0" err="1"/>
              <a:t>Protoss</a:t>
            </a:r>
            <a:r>
              <a:rPr lang="ko-KR" altLang="en-US" sz="800" dirty="0"/>
              <a:t>를 종족별 추상 클래스로 분류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UnitGroup</a:t>
            </a:r>
            <a:r>
              <a:rPr lang="ko-KR" altLang="en-US" sz="800" dirty="0"/>
              <a:t>을 통해 여러 유닛을 배열로 관리</a:t>
            </a:r>
            <a:endParaRPr lang="en-US" altLang="ko-KR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0800D92B-17E9-4D87-94F6-85EA8CC68601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79596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5E76B610-E2A9-447A-B14E-6DF364EA1059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79596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1C8C4233-BC17-4F58-8460-EA250734999E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65DD42D5-7034-447E-B4A0-2A2DF605D6BD}"/>
              </a:ext>
            </a:extLst>
          </p:cNvPr>
          <p:cNvSpPr>
            <a:spLocks noGrp="1"/>
          </p:cNvSpPr>
          <p:nvPr/>
        </p:nvSpPr>
        <p:spPr>
          <a:xfrm>
            <a:off x="552449" y="3362325"/>
            <a:ext cx="2622347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공통 속성은 </a:t>
            </a:r>
            <a:r>
              <a:rPr lang="en-US" altLang="ko-KR" sz="800" dirty="0"/>
              <a:t>Entity</a:t>
            </a:r>
            <a:r>
              <a:rPr lang="ko-KR" altLang="en-US" sz="800" dirty="0"/>
              <a:t>로 통합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종족별 공통 특징은 추상 클래스로 분리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이동</a:t>
            </a:r>
            <a:r>
              <a:rPr lang="en-US" altLang="ko-KR" sz="800" dirty="0"/>
              <a:t>, </a:t>
            </a:r>
            <a:r>
              <a:rPr lang="ko-KR" altLang="en-US" sz="800" dirty="0"/>
              <a:t>공격</a:t>
            </a:r>
            <a:r>
              <a:rPr lang="en-US" altLang="ko-KR" sz="800" dirty="0"/>
              <a:t>, </a:t>
            </a:r>
            <a:r>
              <a:rPr lang="ko-KR" altLang="en-US" sz="800" dirty="0"/>
              <a:t>마법</a:t>
            </a:r>
            <a:r>
              <a:rPr lang="en-US" altLang="ko-KR" sz="800" dirty="0"/>
              <a:t>, </a:t>
            </a:r>
            <a:r>
              <a:rPr lang="ko-KR" altLang="en-US" sz="800" dirty="0"/>
              <a:t>작업</a:t>
            </a:r>
            <a:r>
              <a:rPr lang="en-US" altLang="ko-KR" sz="800" dirty="0"/>
              <a:t>, </a:t>
            </a:r>
            <a:r>
              <a:rPr lang="ko-KR" altLang="en-US" sz="800" dirty="0"/>
              <a:t>수리 기능은 인터페이스로 분리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Bionic</a:t>
            </a:r>
            <a:r>
              <a:rPr lang="ko-KR" altLang="en-US" sz="800" dirty="0"/>
              <a:t>과 </a:t>
            </a:r>
            <a:r>
              <a:rPr lang="en-US" altLang="ko-KR" sz="800" dirty="0"/>
              <a:t>Mechanic</a:t>
            </a:r>
            <a:r>
              <a:rPr lang="ko-KR" altLang="en-US" sz="800" dirty="0"/>
              <a:t>으로 유닛 타입 구분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UnitGroup</a:t>
            </a:r>
            <a:r>
              <a:rPr lang="ko-KR" altLang="en-US" sz="800" dirty="0"/>
              <a:t>으로 다형성을 활용한 단체 이동 및 공격 처리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6CA385BB-BA33-4E59-B930-FEFD89D429EE}"/>
              </a:ext>
            </a:extLst>
          </p:cNvPr>
          <p:cNvSpPr>
            <a:spLocks noGrp="1"/>
          </p:cNvSpPr>
          <p:nvPr/>
        </p:nvSpPr>
        <p:spPr>
          <a:xfrm>
            <a:off x="3476356" y="895350"/>
            <a:ext cx="5343794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1495" y="1462982"/>
            <a:ext cx="4793515" cy="2655687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27AB0E70-562F-49D2-A072-B24268D388D4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DA552BBB-783D-4327-A997-1A8B1651918B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0FA4F897-819B-45B4-9A63-AB6605559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BC42E9CC-7EAE-4A8C-AD74-E9F07CE02B48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Terran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89DD70A9-CD84-4ADB-84B0-A4BF22E69131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36636" y="868680"/>
            <a:ext cx="4470728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328FEC84-A280-400F-A064-CC917F3EC6AD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F27664C5-F3EB-43EB-96A0-229645C3F095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Terran 구조: 생물/기계 유닛 분리, SCV 채취·수리 역할 포함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3454EBE4-FD07-4696-BAE4-084B8AF03DC1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72F67150-2D65-4F47-9AE0-F1C39F5F3C96}"/>
              </a:ext>
            </a:extLst>
          </p:cNvPr>
          <p:cNvSpPr>
            <a:spLocks noGrp="1"/>
          </p:cNvSpPr>
          <p:nvPr/>
        </p:nvSpPr>
        <p:spPr>
          <a:xfrm>
            <a:off x="400049" y="981075"/>
            <a:ext cx="2899105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106CDE4E-54EB-4871-B984-5B16B4CE6BC4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899104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A5C08432-2B8D-4B85-B1DF-9FF8AA283430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953835E4-216B-4124-A7E5-B7A3CCDC2776}"/>
              </a:ext>
            </a:extLst>
          </p:cNvPr>
          <p:cNvSpPr>
            <a:spLocks noGrp="1"/>
          </p:cNvSpPr>
          <p:nvPr/>
        </p:nvSpPr>
        <p:spPr>
          <a:xfrm>
            <a:off x="552449" y="1457325"/>
            <a:ext cx="2658923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50" dirty="0"/>
              <a:t>Terran</a:t>
            </a:r>
            <a:r>
              <a:rPr lang="ko-KR" altLang="en-US" sz="850" dirty="0"/>
              <a:t>을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Marine, Medic, Vulture, Tank, SCV</a:t>
            </a:r>
            <a:r>
              <a:rPr lang="ko-KR" altLang="en-US" sz="850" dirty="0"/>
              <a:t>로 유닛 구성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Bionic</a:t>
            </a:r>
            <a:r>
              <a:rPr lang="ko-KR" altLang="en-US" sz="850" dirty="0"/>
              <a:t>과 </a:t>
            </a:r>
            <a:r>
              <a:rPr lang="en-US" altLang="ko-KR" sz="850" dirty="0"/>
              <a:t>Mechanic</a:t>
            </a:r>
            <a:r>
              <a:rPr lang="ko-KR" altLang="en-US" sz="850" dirty="0"/>
              <a:t>으로 유닛 타입 분류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SCV</a:t>
            </a:r>
            <a:r>
              <a:rPr lang="ko-KR" altLang="en-US" sz="850" dirty="0"/>
              <a:t>는 </a:t>
            </a:r>
            <a:r>
              <a:rPr lang="en-US" altLang="ko-KR" sz="850" dirty="0"/>
              <a:t>Bionic</a:t>
            </a:r>
            <a:r>
              <a:rPr lang="ko-KR" altLang="en-US" sz="850" dirty="0"/>
              <a:t>과 </a:t>
            </a:r>
            <a:r>
              <a:rPr lang="en-US" altLang="ko-KR" sz="850" dirty="0"/>
              <a:t>Mechanic </a:t>
            </a:r>
            <a:r>
              <a:rPr lang="ko-KR" altLang="en-US" sz="850" dirty="0"/>
              <a:t>특성을 모두 가짐</a:t>
            </a:r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A1A3B177-B9B5-4356-BC53-1087275F6711}"/>
              </a:ext>
            </a:extLst>
          </p:cNvPr>
          <p:cNvSpPr>
            <a:spLocks noGrp="1"/>
          </p:cNvSpPr>
          <p:nvPr/>
        </p:nvSpPr>
        <p:spPr>
          <a:xfrm>
            <a:off x="400049" y="2886075"/>
            <a:ext cx="2899105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832FC54E-F78E-4F47-9D58-E34A53B8FB44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899104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19094152-36A4-45DC-AE5E-2539DB50DAF8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14049CB7-1891-452C-BBEC-4F980BA4B118}"/>
              </a:ext>
            </a:extLst>
          </p:cNvPr>
          <p:cNvSpPr>
            <a:spLocks noGrp="1"/>
          </p:cNvSpPr>
          <p:nvPr/>
        </p:nvSpPr>
        <p:spPr>
          <a:xfrm>
            <a:off x="552449" y="3362325"/>
            <a:ext cx="2658923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/>
              <a:t>Marine</a:t>
            </a:r>
            <a:r>
              <a:rPr lang="ko-KR" altLang="en-US" sz="800" dirty="0"/>
              <a:t>은 </a:t>
            </a:r>
            <a:r>
              <a:rPr lang="en-US" altLang="ko-KR" sz="800" dirty="0"/>
              <a:t>Bionic </a:t>
            </a:r>
            <a:r>
              <a:rPr lang="ko-KR" altLang="en-US" sz="800" dirty="0"/>
              <a:t>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Medic</a:t>
            </a:r>
            <a:r>
              <a:rPr lang="ko-KR" altLang="en-US" sz="800" dirty="0"/>
              <a:t>은 </a:t>
            </a:r>
            <a:r>
              <a:rPr lang="en-US" altLang="ko-KR" sz="800" dirty="0"/>
              <a:t>Bionic </a:t>
            </a:r>
            <a:r>
              <a:rPr lang="ko-KR" altLang="en-US" sz="800" dirty="0"/>
              <a:t>마법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Vulture</a:t>
            </a:r>
            <a:r>
              <a:rPr lang="ko-KR" altLang="en-US" sz="800" dirty="0"/>
              <a:t>와 </a:t>
            </a:r>
            <a:r>
              <a:rPr lang="en-US" altLang="ko-KR" sz="800" dirty="0"/>
              <a:t>Tank</a:t>
            </a:r>
            <a:r>
              <a:rPr lang="ko-KR" altLang="en-US" sz="800" dirty="0"/>
              <a:t>는 </a:t>
            </a:r>
            <a:r>
              <a:rPr lang="en-US" altLang="ko-KR" sz="800" dirty="0"/>
              <a:t>Mechanic </a:t>
            </a:r>
            <a:r>
              <a:rPr lang="ko-KR" altLang="en-US" sz="800" dirty="0"/>
              <a:t>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SCV</a:t>
            </a:r>
            <a:r>
              <a:rPr lang="ko-KR" altLang="en-US" sz="800" dirty="0"/>
              <a:t>는 채취</a:t>
            </a:r>
            <a:r>
              <a:rPr lang="en-US" altLang="ko-KR" sz="800" dirty="0"/>
              <a:t>, </a:t>
            </a:r>
            <a:r>
              <a:rPr lang="ko-KR" altLang="en-US" sz="800" dirty="0"/>
              <a:t>공격</a:t>
            </a:r>
            <a:r>
              <a:rPr lang="en-US" altLang="ko-KR" sz="800" dirty="0"/>
              <a:t>, </a:t>
            </a:r>
            <a:r>
              <a:rPr lang="ko-KR" altLang="en-US" sz="800" dirty="0"/>
              <a:t>수리 기능을 가진 특수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RepairableEntity</a:t>
            </a:r>
            <a:r>
              <a:rPr lang="ko-KR" altLang="en-US" sz="800" dirty="0"/>
              <a:t>를 통해 수리 가능한 기계 유닛 구분</a:t>
            </a:r>
            <a:endParaRPr lang="en-US" altLang="ko-KR" sz="800" dirty="0"/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6FAB93F6-3913-409B-9FD2-D8F6A7672EB7}"/>
              </a:ext>
            </a:extLst>
          </p:cNvPr>
          <p:cNvSpPr>
            <a:spLocks noGrp="1"/>
          </p:cNvSpPr>
          <p:nvPr/>
        </p:nvSpPr>
        <p:spPr>
          <a:xfrm>
            <a:off x="3467404" y="895350"/>
            <a:ext cx="5352745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4692" y="1146140"/>
            <a:ext cx="4098168" cy="3289369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41BFF9CD-B65E-4941-8A28-CA84CA49952D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575F3D5A-D678-4DA0-83C0-A703625F2A32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B6A065CB-904D-4171-BC4B-8F96A6F9AA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34445885-5823-4A93-92F8-DBF63795D11C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Zerg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6DD67389-238E-41BE-AB03-1F5F0B8A994F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74486" y="868680"/>
            <a:ext cx="3395028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EDC811BA-C78F-4838-8492-C800BD550425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F11DA164-FA5C-4285-B3D6-9ACBF5B863E6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Zerg 구조: 생물 유닛 계층화, 시간 경과에 따른 체력 회복 포함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F33B9E5-CC7D-4E18-BC9D-A826BEBC8475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A35D3BBF-256B-4B6F-B0CD-99394F1B5CC9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84AE774C-16D2-452C-B9A6-1A7C9638B34B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FFE02E26-E6CC-455C-B004-5A8ED0659CF0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23F422B6-CC54-4FC2-A1FD-020E81A4A158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ko-KR" altLang="en-US" sz="80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Zergling</a:t>
            </a:r>
            <a:r>
              <a:rPr lang="ko-KR" altLang="en-US" sz="800" dirty="0"/>
              <a:t>과 </a:t>
            </a:r>
            <a:r>
              <a:rPr lang="en-US" altLang="ko-KR" sz="800" dirty="0"/>
              <a:t>Hydra</a:t>
            </a:r>
            <a:r>
              <a:rPr lang="ko-KR" altLang="en-US" sz="800" dirty="0"/>
              <a:t>를 </a:t>
            </a: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유닛으로 구성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유닛은 </a:t>
            </a:r>
            <a:r>
              <a:rPr lang="en-US" altLang="ko-KR" sz="800" dirty="0"/>
              <a:t>Bionic </a:t>
            </a:r>
            <a:r>
              <a:rPr lang="ko-KR" altLang="en-US" sz="800" dirty="0"/>
              <a:t>타입으로 분류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Zerg</a:t>
            </a:r>
            <a:r>
              <a:rPr lang="en-US" altLang="ko-KR" sz="800" dirty="0"/>
              <a:t> </a:t>
            </a:r>
            <a:r>
              <a:rPr lang="ko-KR" altLang="en-US" sz="800" dirty="0"/>
              <a:t>클래스에 체력 회복 속성 배치</a:t>
            </a:r>
            <a:endParaRPr lang="en-US" altLang="ko-KR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10F56F7F-F42A-41E2-8082-C934FC7BC2A5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4BB3935F-15B0-4DDE-8223-13353FFBFE22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DB85C5A9-47EA-4C0A-AA43-A24FCF83741A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2393ADF6-6F62-4F83-8AA8-280FCAD64E72}"/>
              </a:ext>
            </a:extLst>
          </p:cNvPr>
          <p:cNvSpPr>
            <a:spLocks noGrp="1"/>
          </p:cNvSpPr>
          <p:nvPr/>
        </p:nvSpPr>
        <p:spPr>
          <a:xfrm>
            <a:off x="552450" y="3362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50" dirty="0" err="1"/>
              <a:t>Zerg</a:t>
            </a:r>
            <a:r>
              <a:rPr lang="ko-KR" altLang="en-US" sz="85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50" dirty="0" err="1"/>
              <a:t>Zerg</a:t>
            </a:r>
            <a:r>
              <a:rPr lang="en-US" altLang="ko-KR" sz="850" dirty="0"/>
              <a:t> </a:t>
            </a:r>
            <a:r>
              <a:rPr lang="ko-KR" altLang="en-US" sz="850" dirty="0"/>
              <a:t>유닛을 </a:t>
            </a:r>
            <a:r>
              <a:rPr lang="en-US" altLang="ko-KR" sz="850" dirty="0"/>
              <a:t>Bionic </a:t>
            </a:r>
            <a:r>
              <a:rPr lang="ko-KR" altLang="en-US" sz="850" dirty="0"/>
              <a:t>타입으로 분류</a:t>
            </a:r>
          </a:p>
          <a:p>
            <a:pPr>
              <a:lnSpc>
                <a:spcPct val="150000"/>
              </a:lnSpc>
            </a:pPr>
            <a:r>
              <a:rPr lang="ko-KR" altLang="en-US" sz="850" dirty="0"/>
              <a:t>공통 회복 속성을 </a:t>
            </a:r>
            <a:r>
              <a:rPr lang="en-US" altLang="ko-KR" sz="850" dirty="0" err="1"/>
              <a:t>Zerg</a:t>
            </a:r>
            <a:r>
              <a:rPr lang="en-US" altLang="ko-KR" sz="850" dirty="0"/>
              <a:t> </a:t>
            </a:r>
            <a:r>
              <a:rPr lang="ko-KR" altLang="en-US" sz="850" dirty="0"/>
              <a:t>클래스에 배치</a:t>
            </a:r>
          </a:p>
          <a:p>
            <a:pPr>
              <a:lnSpc>
                <a:spcPct val="150000"/>
              </a:lnSpc>
            </a:pPr>
            <a:r>
              <a:rPr lang="en-US" altLang="ko-KR" sz="850" dirty="0"/>
              <a:t>Zergling</a:t>
            </a:r>
            <a:r>
              <a:rPr lang="ko-KR" altLang="en-US" sz="850" dirty="0"/>
              <a:t>과 </a:t>
            </a:r>
            <a:r>
              <a:rPr lang="en-US" altLang="ko-KR" sz="850" dirty="0"/>
              <a:t>Hydra</a:t>
            </a:r>
            <a:r>
              <a:rPr lang="ko-KR" altLang="en-US" sz="850" dirty="0"/>
              <a:t>에 이동 및 공격 기능 할당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41223589-CBB0-400E-BE1D-05D59C351861}"/>
              </a:ext>
            </a:extLst>
          </p:cNvPr>
          <p:cNvSpPr>
            <a:spLocks noGrp="1"/>
          </p:cNvSpPr>
          <p:nvPr/>
        </p:nvSpPr>
        <p:spPr>
          <a:xfrm>
            <a:off x="3314700" y="895350"/>
            <a:ext cx="5505450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1371" y="1009650"/>
            <a:ext cx="3112108" cy="3562350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2850C02C-E183-4D8A-9612-A31F2F15AB96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0D8187A3-587C-4307-8C82-87140E21F61C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r>
              <a:rPr lang="ko-KR" altLang="en-US" sz="800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EF1B8-20B6-4E53-BB7B-A0E68F6159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AC6D6E-3F6B-41E0-8E35-2C1C44B2E56A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클래스 다이어그램  –  전체 설계 구조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FF0A3-4C65-405B-9667-06F77F900047}"/>
              </a:ext>
            </a:extLst>
          </p:cNvPr>
          <p:cNvSpPr>
            <a:spLocks noGrp="1"/>
          </p:cNvSpPr>
          <p:nvPr/>
        </p:nvSpPr>
        <p:spPr>
          <a:xfrm>
            <a:off x="7772400" y="76200"/>
            <a:ext cx="1097280" cy="685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r">
              <a:buNone/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9904B1-98A0-4E74-8266-1815953640B2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2C4FD5-1E3D-45C5-B161-6AC565F837D9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|  Java 객체지향 설계 | 4조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0DD18B-ACBF-40C3-8ABA-7CC13AA848A9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886200"/>
          </a:xfrm>
          <a:prstGeom prst="rect">
            <a:avLst/>
          </a:prstGeom>
        </p:spPr>
      </p:pic>
      <p:sp>
        <p:nvSpPr>
          <p:cNvPr id="9" name="header-cover">
            <a:extLst>
              <a:ext uri="{FF2B5EF4-FFF2-40B4-BE49-F238E27FC236}">
                <a16:creationId xmlns:a16="http://schemas.microsoft.com/office/drawing/2014/main" id="{789D76E1-9551-487F-AE57-C2410C853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E4F39870-8333-46DC-91A7-02AD13C34D09}"/>
              </a:ext>
            </a:extLst>
          </p:cNvPr>
          <p:cNvSpPr>
            <a:spLocks noGrp="1"/>
          </p:cNvSpPr>
          <p:nvPr/>
        </p:nvSpPr>
        <p:spPr>
          <a:xfrm>
            <a:off x="320040" y="762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Protoss 구조 설계</a:t>
            </a:r>
          </a:p>
        </p:txBody>
      </p:sp>
      <p:sp>
        <p:nvSpPr>
          <p:cNvPr id="12" name="image-slot-cover">
            <a:extLst>
              <a:ext uri="{FF2B5EF4-FFF2-40B4-BE49-F238E27FC236}">
                <a16:creationId xmlns:a16="http://schemas.microsoft.com/office/drawing/2014/main" id="{DDD584DA-E4D1-4ECF-BB8D-2FA9BB105FAB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8503920" cy="3886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38265" y="868680"/>
            <a:ext cx="4467469" cy="3886200"/>
          </a:xfrm>
          <a:prstGeom prst="rect">
            <a:avLst/>
          </a:prstGeom>
        </p:spPr>
      </p:pic>
      <p:sp>
        <p:nvSpPr>
          <p:cNvPr id="14" name="footer-cover">
            <a:extLst>
              <a:ext uri="{FF2B5EF4-FFF2-40B4-BE49-F238E27FC236}">
                <a16:creationId xmlns:a16="http://schemas.microsoft.com/office/drawing/2014/main" id="{32EAABDF-9C9C-4372-A05F-38F3210F8A86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lide-footer">
            <a:extLst>
              <a:ext uri="{FF2B5EF4-FFF2-40B4-BE49-F238E27FC236}">
                <a16:creationId xmlns:a16="http://schemas.microsoft.com/office/drawing/2014/main" id="{66C8C435-A411-49DF-B8FC-AFF44BEA6AF6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6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Protoss 구조: 모든 유닛의 보호막 정보를 공통 속성화</a:t>
            </a:r>
          </a:p>
        </p:txBody>
      </p:sp>
      <p:sp>
        <p:nvSpPr>
          <p:cNvPr id="18" name="content-cover">
            <a:extLst>
              <a:ext uri="{FF2B5EF4-FFF2-40B4-BE49-F238E27FC236}">
                <a16:creationId xmlns:a16="http://schemas.microsoft.com/office/drawing/2014/main" id="{0A80AF8C-2A1F-4194-88AF-A71280801A08}"/>
              </a:ext>
            </a:extLst>
          </p:cNvPr>
          <p:cNvSpPr>
            <a:spLocks noGrp="1"/>
          </p:cNvSpPr>
          <p:nvPr/>
        </p:nvSpPr>
        <p:spPr>
          <a:xfrm>
            <a:off x="228600" y="822960"/>
            <a:ext cx="8686800" cy="3977640"/>
          </a:xfrm>
          <a:prstGeom prst="rect">
            <a:avLst/>
          </a:prstGeom>
          <a:solidFill>
            <a:srgbClr val="EEF2FB"/>
          </a:solidFill>
          <a:ln w="0">
            <a:solidFill>
              <a:srgbClr val="EEF2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기본 구조-card">
            <a:extLst>
              <a:ext uri="{FF2B5EF4-FFF2-40B4-BE49-F238E27FC236}">
                <a16:creationId xmlns:a16="http://schemas.microsoft.com/office/drawing/2014/main" id="{1D8FDACC-C7AE-4049-86ED-6548CCB29E39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기본 구조-header">
            <a:extLst>
              <a:ext uri="{FF2B5EF4-FFF2-40B4-BE49-F238E27FC236}">
                <a16:creationId xmlns:a16="http://schemas.microsoft.com/office/drawing/2014/main" id="{BBD131F0-12FB-4D14-86C8-0D68FDE36FC4}"/>
              </a:ext>
            </a:extLst>
          </p:cNvPr>
          <p:cNvSpPr>
            <a:spLocks noGrp="1"/>
          </p:cNvSpPr>
          <p:nvPr/>
        </p:nvSpPr>
        <p:spPr>
          <a:xfrm>
            <a:off x="400050" y="981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기본 구조-title">
            <a:extLst>
              <a:ext uri="{FF2B5EF4-FFF2-40B4-BE49-F238E27FC236}">
                <a16:creationId xmlns:a16="http://schemas.microsoft.com/office/drawing/2014/main" id="{2632DCE6-11A0-48B1-9B37-2EA323760D3E}"/>
              </a:ext>
            </a:extLst>
          </p:cNvPr>
          <p:cNvSpPr>
            <a:spLocks noGrp="1"/>
          </p:cNvSpPr>
          <p:nvPr/>
        </p:nvSpPr>
        <p:spPr>
          <a:xfrm>
            <a:off x="552450" y="1038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기본 구조</a:t>
            </a:r>
          </a:p>
        </p:txBody>
      </p:sp>
      <p:sp>
        <p:nvSpPr>
          <p:cNvPr id="22" name="기본 구조-blank-area">
            <a:extLst>
              <a:ext uri="{FF2B5EF4-FFF2-40B4-BE49-F238E27FC236}">
                <a16:creationId xmlns:a16="http://schemas.microsoft.com/office/drawing/2014/main" id="{49FA8834-EE19-466A-9C3B-44A63F7597D7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ko-KR" altLang="en-US" sz="800" dirty="0"/>
              <a:t>를 종족 공통 부모 클래스로 설정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과 </a:t>
            </a:r>
            <a:r>
              <a:rPr lang="en-US" altLang="ko-KR" sz="800" dirty="0"/>
              <a:t>Dragun</a:t>
            </a:r>
            <a:r>
              <a:rPr lang="ko-KR" altLang="en-US" sz="800" dirty="0"/>
              <a:t>을 </a:t>
            </a: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유닛으로 구성</a:t>
            </a:r>
          </a:p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클래스에 보호막 관련 속성 배치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은 </a:t>
            </a:r>
            <a:r>
              <a:rPr lang="en-US" altLang="ko-KR" sz="800" dirty="0" smtClean="0"/>
              <a:t>Bionic</a:t>
            </a:r>
            <a:r>
              <a:rPr lang="ko-KR" altLang="en-US" sz="800" smtClean="0"/>
              <a:t>으로 분류함</a:t>
            </a:r>
            <a:endParaRPr lang="ko-KR" altLang="en-US" sz="800" dirty="0"/>
          </a:p>
        </p:txBody>
      </p:sp>
      <p:sp>
        <p:nvSpPr>
          <p:cNvPr id="23" name="설계 방식-card">
            <a:extLst>
              <a:ext uri="{FF2B5EF4-FFF2-40B4-BE49-F238E27FC236}">
                <a16:creationId xmlns:a16="http://schemas.microsoft.com/office/drawing/2014/main" id="{5BBBD81F-99DF-4A25-86D3-37B4D5C550D9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16764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C9D4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설계 방식-header">
            <a:extLst>
              <a:ext uri="{FF2B5EF4-FFF2-40B4-BE49-F238E27FC236}">
                <a16:creationId xmlns:a16="http://schemas.microsoft.com/office/drawing/2014/main" id="{E16399DF-DD3C-43CE-B6C8-7324E057AB16}"/>
              </a:ext>
            </a:extLst>
          </p:cNvPr>
          <p:cNvSpPr>
            <a:spLocks noGrp="1"/>
          </p:cNvSpPr>
          <p:nvPr/>
        </p:nvSpPr>
        <p:spPr>
          <a:xfrm>
            <a:off x="400050" y="2886075"/>
            <a:ext cx="2724150" cy="323850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설계 방식-title">
            <a:extLst>
              <a:ext uri="{FF2B5EF4-FFF2-40B4-BE49-F238E27FC236}">
                <a16:creationId xmlns:a16="http://schemas.microsoft.com/office/drawing/2014/main" id="{361A8AFE-5497-4DDE-BFE1-FF773DE13124}"/>
              </a:ext>
            </a:extLst>
          </p:cNvPr>
          <p:cNvSpPr>
            <a:spLocks noGrp="1"/>
          </p:cNvSpPr>
          <p:nvPr/>
        </p:nvSpPr>
        <p:spPr>
          <a:xfrm>
            <a:off x="552450" y="2943225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설계 방식</a:t>
            </a:r>
          </a:p>
        </p:txBody>
      </p:sp>
      <p:sp>
        <p:nvSpPr>
          <p:cNvPr id="26" name="설계 방식-blank-area">
            <a:extLst>
              <a:ext uri="{FF2B5EF4-FFF2-40B4-BE49-F238E27FC236}">
                <a16:creationId xmlns:a16="http://schemas.microsoft.com/office/drawing/2014/main" id="{2838B01A-560D-4A7B-B1A5-DDC801E4E8E3}"/>
              </a:ext>
            </a:extLst>
          </p:cNvPr>
          <p:cNvSpPr>
            <a:spLocks noGrp="1"/>
          </p:cNvSpPr>
          <p:nvPr/>
        </p:nvSpPr>
        <p:spPr>
          <a:xfrm>
            <a:off x="552450" y="3362325"/>
            <a:ext cx="2419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Protoss</a:t>
            </a:r>
            <a:r>
              <a:rPr lang="en-US" altLang="ko-KR" sz="800" dirty="0"/>
              <a:t> </a:t>
            </a:r>
            <a:r>
              <a:rPr lang="ko-KR" altLang="en-US" sz="800" dirty="0"/>
              <a:t>공통 특징인 보호막을 부모 클래스에 배치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Zealot</a:t>
            </a:r>
            <a:r>
              <a:rPr lang="ko-KR" altLang="en-US" sz="800" dirty="0"/>
              <a:t>은 생물형 공격 유닛으로 설계</a:t>
            </a:r>
          </a:p>
          <a:p>
            <a:pPr>
              <a:lnSpc>
                <a:spcPct val="150000"/>
              </a:lnSpc>
            </a:pPr>
            <a:r>
              <a:rPr lang="en-US" altLang="ko-KR" sz="800" dirty="0"/>
              <a:t>Dragun</a:t>
            </a:r>
            <a:r>
              <a:rPr lang="ko-KR" altLang="en-US" sz="800" dirty="0"/>
              <a:t>은 기계형 공격 유닛으로 설계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두 유닛 모두 </a:t>
            </a:r>
            <a:r>
              <a:rPr lang="en-US" altLang="ko-KR" sz="800" dirty="0" err="1"/>
              <a:t>AttackableEntity</a:t>
            </a:r>
            <a:r>
              <a:rPr lang="ko-KR" altLang="en-US" sz="800" dirty="0"/>
              <a:t>를 통해 공격 기능 부여</a:t>
            </a:r>
          </a:p>
        </p:txBody>
      </p:sp>
      <p:sp>
        <p:nvSpPr>
          <p:cNvPr id="27" name="diagram-frame">
            <a:extLst>
              <a:ext uri="{FF2B5EF4-FFF2-40B4-BE49-F238E27FC236}">
                <a16:creationId xmlns:a16="http://schemas.microsoft.com/office/drawing/2014/main" id="{3CD2DECE-93F8-4F13-BD7F-16BA97A50125}"/>
              </a:ext>
            </a:extLst>
          </p:cNvPr>
          <p:cNvSpPr>
            <a:spLocks noGrp="1"/>
          </p:cNvSpPr>
          <p:nvPr/>
        </p:nvSpPr>
        <p:spPr>
          <a:xfrm>
            <a:off x="3314700" y="895350"/>
            <a:ext cx="5505450" cy="3790950"/>
          </a:xfrm>
          <a:prstGeom prst="roundRect">
            <a:avLst>
              <a:gd name="adj" fmla="val 503"/>
            </a:avLst>
          </a:prstGeom>
          <a:solidFill>
            <a:srgbClr val="FFFFFF"/>
          </a:solidFill>
          <a:ln w="9525">
            <a:solidFill>
              <a:srgbClr val="D2DB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9835" y="1009650"/>
            <a:ext cx="4095180" cy="3562349"/>
          </a:xfrm>
          <a:prstGeom prst="rect">
            <a:avLst/>
          </a:prstGeom>
        </p:spPr>
      </p:pic>
      <p:sp>
        <p:nvSpPr>
          <p:cNvPr id="29" name="footer-cover">
            <a:extLst>
              <a:ext uri="{FF2B5EF4-FFF2-40B4-BE49-F238E27FC236}">
                <a16:creationId xmlns:a16="http://schemas.microsoft.com/office/drawing/2014/main" id="{DE991189-3AB7-4929-B54A-3FB4114B5809}"/>
              </a:ext>
            </a:extLst>
          </p:cNvPr>
          <p:cNvSpPr>
            <a:spLocks noGrp="1"/>
          </p:cNvSpPr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952A3"/>
          </a:solidFill>
          <a:ln w="0">
            <a:solidFill>
              <a:srgbClr val="2952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lide-footer-revised">
            <a:extLst>
              <a:ext uri="{FF2B5EF4-FFF2-40B4-BE49-F238E27FC236}">
                <a16:creationId xmlns:a16="http://schemas.microsoft.com/office/drawing/2014/main" id="{29A16996-3E5A-4E20-A226-04CF7B1CBC5B}"/>
              </a:ext>
            </a:extLst>
          </p:cNvPr>
          <p:cNvSpPr>
            <a:spLocks noGrp="1"/>
          </p:cNvSpPr>
          <p:nvPr/>
        </p:nvSpPr>
        <p:spPr>
          <a:xfrm>
            <a:off x="274320" y="4937760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>
                <a:latin typeface="Arial"/>
                <a:ea typeface="Arial"/>
                <a:cs typeface="Arial"/>
              </a:defRPr>
            </a:pP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별들의 전쟁 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|  Java </a:t>
            </a:r>
            <a:r>
              <a:rPr lang="ko-KR" alt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객체지향 설계 </a:t>
            </a:r>
            <a:r>
              <a:rPr lang="en-US" altLang="ko-KR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| </a:t>
            </a:r>
            <a:r>
              <a:rPr lang="en-US" altLang="ko-KR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r>
              <a:rPr lang="ko-KR" altLang="en-US" sz="80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조</a:t>
            </a:r>
            <a:endParaRPr lang="ko-KR" altLang="en-US" sz="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57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E9D594-8F10-4167-AB7A-FD8BC997803A}"/>
              </a:ext>
            </a:extLst>
          </p:cNvPr>
          <p:cNvSpPr>
            <a:spLocks noGrp="1"/>
          </p:cNvSpPr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952A3">
              <a:alpha val="40000"/>
            </a:srgbClr>
          </a:solidFill>
          <a:ln w="12700">
            <a:solidFill>
              <a:srgbClr val="2952A3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CC829A-20D6-4201-9FFC-AE4BBBC75BA2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6400800" cy="118872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  <a:defRPr>
                <a:latin typeface="Arial"/>
                <a:ea typeface="Arial"/>
                <a:cs typeface="Arial"/>
              </a:defRPr>
            </a:pPr>
            <a:r>
              <a:rPr sz="52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D6CA5B-9652-414E-8DE6-6ABD9C25C2AD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657600" cy="54864"/>
          </a:xfrm>
          <a:prstGeom prst="rect">
            <a:avLst/>
          </a:prstGeom>
          <a:solidFill>
            <a:srgbClr val="5B8DE8"/>
          </a:solidFill>
          <a:ln w="12700">
            <a:solidFill>
              <a:srgbClr val="5B8DE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086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442</Words>
  <Application>Microsoft Office PowerPoint</Application>
  <DocSecurity>0</DocSecurity>
  <PresentationFormat>화면 슬라이드 쇼(16:9)</PresentationFormat>
  <Paragraphs>70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윤 우상</cp:lastModifiedBy>
  <cp:revision>8</cp:revision>
  <dcterms:created xsi:type="dcterms:W3CDTF">2026-06-28T04:29:47Z</dcterms:created>
  <dcterms:modified xsi:type="dcterms:W3CDTF">2026-06-29T00:40:07Z</dcterms:modified>
</cp:coreProperties>
</file>